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0" r:id="rId14"/>
    <p:sldId id="269" r:id="rId15"/>
    <p:sldId id="272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1F9AA4-17B3-CAB6-B5F0-083A31ABAC97}" v="583" dt="2026-06-14T13:14:08.8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93" d="100"/>
          <a:sy n="93" d="100"/>
        </p:scale>
        <p:origin x="77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08295" y="436099"/>
            <a:ext cx="9359705" cy="2806578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accent2"/>
                </a:solidFill>
              </a:rPr>
              <a:t>LUNG CANCER DETECTION - USING CNN AND XCEPTION TRANSFER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08295" y="3840479"/>
            <a:ext cx="9144000" cy="261659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000" b="1" u="sng" dirty="0">
                <a:solidFill>
                  <a:schemeClr val="accent2"/>
                </a:solidFill>
              </a:rPr>
              <a:t>TEAM MEMBERS:</a:t>
            </a:r>
            <a:endParaRPr lang="en-US" sz="2000" b="1" dirty="0">
              <a:solidFill>
                <a:schemeClr val="accent2"/>
              </a:solidFill>
            </a:endParaRPr>
          </a:p>
          <a:p>
            <a:pPr>
              <a:lnSpc>
                <a:spcPct val="110000"/>
              </a:lnSpc>
            </a:pPr>
            <a:r>
              <a:rPr lang="en-US" sz="2000" b="1" dirty="0"/>
              <a:t>160723748009 - MOHAMMED INABAH KHAN</a:t>
            </a:r>
          </a:p>
          <a:p>
            <a:pPr>
              <a:lnSpc>
                <a:spcPct val="110000"/>
              </a:lnSpc>
            </a:pPr>
            <a:r>
              <a:rPr lang="en-US" sz="2000" b="1" dirty="0"/>
              <a:t>160723748018  - BANNENOLA AKHIL</a:t>
            </a:r>
          </a:p>
          <a:p>
            <a:pPr>
              <a:lnSpc>
                <a:spcPct val="110000"/>
              </a:lnSpc>
            </a:pPr>
            <a:r>
              <a:rPr lang="en-US" sz="2000" b="1" dirty="0"/>
              <a:t>160723748041 – GUTTULA YESHWANTH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7FCC2-9A8F-E6D7-2724-82A0814AB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394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chemeClr val="accent2"/>
                </a:solidFill>
              </a:rPr>
              <a:t>ABSTRACT</a:t>
            </a:r>
            <a:endParaRPr lang="en-US" sz="4800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B838B9-FA67-B4F1-AE28-EB0F3569C6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8053" y="2133600"/>
            <a:ext cx="9335894" cy="364720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just">
              <a:buNone/>
            </a:pPr>
            <a:r>
              <a:rPr lang="en-US" sz="2000" dirty="0"/>
              <a:t>Lung cancer is one of the leading causes of cancer-related deaths worldwide. Early diagnosis is essential for improving survival rates. Manual analysis of CT scan images is time-consuming and prone to errors. This project proposes a Deep Learning-based Lung Cancer Detection System using CNN and </a:t>
            </a:r>
            <a:r>
              <a:rPr lang="en-US" sz="2000" dirty="0" err="1"/>
              <a:t>Xception</a:t>
            </a:r>
            <a:r>
              <a:rPr lang="en-US" sz="2000" dirty="0"/>
              <a:t> Transfer Learning. </a:t>
            </a:r>
          </a:p>
          <a:p>
            <a:pPr marL="0" indent="0" algn="just">
              <a:buNone/>
            </a:pPr>
            <a:r>
              <a:rPr lang="en-US" sz="2000" dirty="0"/>
              <a:t>The model classifies CT scan images into three categories: Benign, Malignant and Normal. Image preprocessing, data augmentation, and transfer learning techniques are used to improve classification accuracy and support intelligent medical diagnosis.</a:t>
            </a:r>
          </a:p>
        </p:txBody>
      </p:sp>
    </p:spTree>
    <p:extLst>
      <p:ext uri="{BB962C8B-B14F-4D97-AF65-F5344CB8AC3E}">
        <p14:creationId xmlns:p14="http://schemas.microsoft.com/office/powerpoint/2010/main" val="1259752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E916E-2E0E-F0BE-C553-F7D750FCB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800" b="1" dirty="0">
                <a:solidFill>
                  <a:schemeClr val="accent2"/>
                </a:solidFill>
              </a:rPr>
              <a:t>CONTENTS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CE6301-A378-7E63-21FC-5BB0AAFDF4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7108" y="1690688"/>
            <a:ext cx="9876692" cy="448627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/>
              <a:t>INTRODUCTION</a:t>
            </a:r>
          </a:p>
          <a:p>
            <a:r>
              <a:rPr lang="en-US" sz="2000" dirty="0"/>
              <a:t>LITERATURE SURVEY</a:t>
            </a:r>
          </a:p>
          <a:p>
            <a:r>
              <a:rPr lang="en-US" sz="2000" dirty="0"/>
              <a:t>PROBLEM STATEMENT</a:t>
            </a:r>
          </a:p>
          <a:p>
            <a:r>
              <a:rPr lang="en-US" sz="2000" dirty="0"/>
              <a:t>PROPOSED SOLUTION</a:t>
            </a:r>
          </a:p>
          <a:p>
            <a:r>
              <a:rPr lang="en-US" sz="2000" dirty="0"/>
              <a:t>OBJECTIVES</a:t>
            </a:r>
          </a:p>
          <a:p>
            <a:r>
              <a:rPr lang="en-US" sz="2000" dirty="0"/>
              <a:t>FRAMEWORK (METHODOLOGY)</a:t>
            </a:r>
          </a:p>
          <a:p>
            <a:r>
              <a:rPr lang="en-US" sz="2000" dirty="0"/>
              <a:t>MODULES</a:t>
            </a:r>
          </a:p>
          <a:p>
            <a:r>
              <a:rPr lang="en-US" sz="2000" dirty="0"/>
              <a:t>TECH STACK</a:t>
            </a:r>
          </a:p>
          <a:p>
            <a:r>
              <a:rPr lang="en-US" sz="2000" dirty="0"/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42499002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E23D3-6CD1-F415-2413-A488F6E0B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chemeClr val="accent2"/>
                </a:solidFill>
              </a:rPr>
              <a:t>INTRODUCTION</a:t>
            </a:r>
          </a:p>
        </p:txBody>
      </p:sp>
      <p:sp>
        <p:nvSpPr>
          <p:cNvPr id="8" name="Rectangle 5"/>
          <p:cNvSpPr>
            <a:spLocks noGrp="1" noChangeArrowheads="1"/>
          </p:cNvSpPr>
          <p:nvPr>
            <p:ph idx="1"/>
          </p:nvPr>
        </p:nvSpPr>
        <p:spPr bwMode="auto">
          <a:xfrm>
            <a:off x="534572" y="2446238"/>
            <a:ext cx="9945858" cy="1631216"/>
          </a:xfrm>
          <a:custGeom>
            <a:avLst/>
            <a:gdLst>
              <a:gd name="connsiteX0" fmla="*/ 0 w 9234268"/>
              <a:gd name="connsiteY0" fmla="*/ 0 h 2246769"/>
              <a:gd name="connsiteX1" fmla="*/ 9234268 w 9234268"/>
              <a:gd name="connsiteY1" fmla="*/ 0 h 2246769"/>
              <a:gd name="connsiteX2" fmla="*/ 9234268 w 9234268"/>
              <a:gd name="connsiteY2" fmla="*/ 2246769 h 2246769"/>
              <a:gd name="connsiteX3" fmla="*/ 0 w 9234268"/>
              <a:gd name="connsiteY3" fmla="*/ 2246769 h 2246769"/>
              <a:gd name="connsiteX4" fmla="*/ 0 w 9234268"/>
              <a:gd name="connsiteY4" fmla="*/ 0 h 2246769"/>
              <a:gd name="connsiteX0" fmla="*/ 0 w 9346809"/>
              <a:gd name="connsiteY0" fmla="*/ 0 h 3287779"/>
              <a:gd name="connsiteX1" fmla="*/ 9346809 w 9346809"/>
              <a:gd name="connsiteY1" fmla="*/ 1041010 h 3287779"/>
              <a:gd name="connsiteX2" fmla="*/ 9346809 w 9346809"/>
              <a:gd name="connsiteY2" fmla="*/ 3287779 h 3287779"/>
              <a:gd name="connsiteX3" fmla="*/ 112541 w 9346809"/>
              <a:gd name="connsiteY3" fmla="*/ 3287779 h 3287779"/>
              <a:gd name="connsiteX4" fmla="*/ 0 w 9346809"/>
              <a:gd name="connsiteY4" fmla="*/ 0 h 3287779"/>
              <a:gd name="connsiteX0" fmla="*/ 0 w 9360876"/>
              <a:gd name="connsiteY0" fmla="*/ 0 h 3287779"/>
              <a:gd name="connsiteX1" fmla="*/ 9360876 w 9360876"/>
              <a:gd name="connsiteY1" fmla="*/ 70340 h 3287779"/>
              <a:gd name="connsiteX2" fmla="*/ 9346809 w 9360876"/>
              <a:gd name="connsiteY2" fmla="*/ 3287779 h 3287779"/>
              <a:gd name="connsiteX3" fmla="*/ 112541 w 9360876"/>
              <a:gd name="connsiteY3" fmla="*/ 3287779 h 3287779"/>
              <a:gd name="connsiteX4" fmla="*/ 0 w 9360876"/>
              <a:gd name="connsiteY4" fmla="*/ 0 h 3287779"/>
              <a:gd name="connsiteX0" fmla="*/ 70339 w 9431215"/>
              <a:gd name="connsiteY0" fmla="*/ 0 h 3442524"/>
              <a:gd name="connsiteX1" fmla="*/ 9431215 w 9431215"/>
              <a:gd name="connsiteY1" fmla="*/ 70340 h 3442524"/>
              <a:gd name="connsiteX2" fmla="*/ 9417148 w 9431215"/>
              <a:gd name="connsiteY2" fmla="*/ 3287779 h 3442524"/>
              <a:gd name="connsiteX3" fmla="*/ 0 w 9431215"/>
              <a:gd name="connsiteY3" fmla="*/ 3442524 h 3442524"/>
              <a:gd name="connsiteX4" fmla="*/ 70339 w 9431215"/>
              <a:gd name="connsiteY4" fmla="*/ 0 h 3442524"/>
              <a:gd name="connsiteX0" fmla="*/ 70339 w 9543757"/>
              <a:gd name="connsiteY0" fmla="*/ 0 h 3442524"/>
              <a:gd name="connsiteX1" fmla="*/ 9431215 w 9543757"/>
              <a:gd name="connsiteY1" fmla="*/ 70340 h 3442524"/>
              <a:gd name="connsiteX2" fmla="*/ 9543757 w 9543757"/>
              <a:gd name="connsiteY2" fmla="*/ 3428456 h 3442524"/>
              <a:gd name="connsiteX3" fmla="*/ 0 w 9543757"/>
              <a:gd name="connsiteY3" fmla="*/ 3442524 h 3442524"/>
              <a:gd name="connsiteX4" fmla="*/ 70339 w 9543757"/>
              <a:gd name="connsiteY4" fmla="*/ 0 h 3442524"/>
              <a:gd name="connsiteX0" fmla="*/ 70339 w 9557824"/>
              <a:gd name="connsiteY0" fmla="*/ 98473 h 3540997"/>
              <a:gd name="connsiteX1" fmla="*/ 9557824 w 9557824"/>
              <a:gd name="connsiteY1" fmla="*/ 0 h 3540997"/>
              <a:gd name="connsiteX2" fmla="*/ 9543757 w 9557824"/>
              <a:gd name="connsiteY2" fmla="*/ 3526929 h 3540997"/>
              <a:gd name="connsiteX3" fmla="*/ 0 w 9557824"/>
              <a:gd name="connsiteY3" fmla="*/ 3540997 h 3540997"/>
              <a:gd name="connsiteX4" fmla="*/ 70339 w 9557824"/>
              <a:gd name="connsiteY4" fmla="*/ 98473 h 3540997"/>
              <a:gd name="connsiteX0" fmla="*/ 0 w 9642230"/>
              <a:gd name="connsiteY0" fmla="*/ 0 h 3625404"/>
              <a:gd name="connsiteX1" fmla="*/ 9642230 w 9642230"/>
              <a:gd name="connsiteY1" fmla="*/ 84407 h 3625404"/>
              <a:gd name="connsiteX2" fmla="*/ 9628163 w 9642230"/>
              <a:gd name="connsiteY2" fmla="*/ 3611336 h 3625404"/>
              <a:gd name="connsiteX3" fmla="*/ 84406 w 9642230"/>
              <a:gd name="connsiteY3" fmla="*/ 3625404 h 3625404"/>
              <a:gd name="connsiteX4" fmla="*/ 0 w 9642230"/>
              <a:gd name="connsiteY4" fmla="*/ 0 h 36254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642230" h="3625404">
                <a:moveTo>
                  <a:pt x="0" y="0"/>
                </a:moveTo>
                <a:lnTo>
                  <a:pt x="9642230" y="84407"/>
                </a:lnTo>
                <a:lnTo>
                  <a:pt x="9628163" y="3611336"/>
                </a:lnTo>
                <a:lnTo>
                  <a:pt x="84406" y="3625404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Lung cancer is among the deadliest cancers globally.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Early detection significantly increases treatment success.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Manual CT scan examination requires expertise and time.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Deep Learning enables automated cancer detection.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CNN and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Xception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models provide accurate image classification. </a:t>
            </a:r>
          </a:p>
        </p:txBody>
      </p:sp>
    </p:spTree>
    <p:extLst>
      <p:ext uri="{BB962C8B-B14F-4D97-AF65-F5344CB8AC3E}">
        <p14:creationId xmlns:p14="http://schemas.microsoft.com/office/powerpoint/2010/main" val="967557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5E8B8-CC8D-A247-4C49-33E724A81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chemeClr val="accent2"/>
                </a:solidFill>
              </a:rPr>
              <a:t>LITERATURE SURVEY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64D5BF2-BB90-2A92-B931-18AEF8F128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98111908"/>
              </p:ext>
            </p:extLst>
          </p:nvPr>
        </p:nvGraphicFramePr>
        <p:xfrm>
          <a:off x="1206842" y="1538330"/>
          <a:ext cx="9778316" cy="50292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55663">
                  <a:extLst>
                    <a:ext uri="{9D8B030D-6E8A-4147-A177-3AD203B41FA5}">
                      <a16:colId xmlns:a16="http://schemas.microsoft.com/office/drawing/2014/main" val="1626378422"/>
                    </a:ext>
                  </a:extLst>
                </a:gridCol>
                <a:gridCol w="1975070">
                  <a:extLst>
                    <a:ext uri="{9D8B030D-6E8A-4147-A177-3AD203B41FA5}">
                      <a16:colId xmlns:a16="http://schemas.microsoft.com/office/drawing/2014/main" val="1688469299"/>
                    </a:ext>
                  </a:extLst>
                </a:gridCol>
                <a:gridCol w="1936257">
                  <a:extLst>
                    <a:ext uri="{9D8B030D-6E8A-4147-A177-3AD203B41FA5}">
                      <a16:colId xmlns:a16="http://schemas.microsoft.com/office/drawing/2014/main" val="2479632234"/>
                    </a:ext>
                  </a:extLst>
                </a:gridCol>
                <a:gridCol w="1955663">
                  <a:extLst>
                    <a:ext uri="{9D8B030D-6E8A-4147-A177-3AD203B41FA5}">
                      <a16:colId xmlns:a16="http://schemas.microsoft.com/office/drawing/2014/main" val="157025434"/>
                    </a:ext>
                  </a:extLst>
                </a:gridCol>
                <a:gridCol w="1955663">
                  <a:extLst>
                    <a:ext uri="{9D8B030D-6E8A-4147-A177-3AD203B41FA5}">
                      <a16:colId xmlns:a16="http://schemas.microsoft.com/office/drawing/2014/main" val="1255729849"/>
                    </a:ext>
                  </a:extLst>
                </a:gridCol>
              </a:tblGrid>
              <a:tr h="3599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u="sng" dirty="0" err="1"/>
                        <a:t>S.No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u="sng" dirty="0"/>
                        <a:t>Title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u="sng" dirty="0"/>
                        <a:t>Authors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u="sng" dirty="0"/>
                        <a:t>Year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u="sng" dirty="0"/>
                        <a:t>Outcomes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6582497"/>
                  </a:ext>
                </a:extLst>
              </a:tr>
              <a:tr h="14399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dirty="0"/>
                        <a:t>1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/>
                        <a:t>Deep Learning for Lung Cancer Detection Using CT Images</a:t>
                      </a:r>
                    </a:p>
                    <a:p>
                      <a:endParaRPr lang="en-US" sz="1800" b="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dirty="0" err="1"/>
                        <a:t>Setio</a:t>
                      </a:r>
                      <a:r>
                        <a:rPr lang="en-US" sz="1800" b="0" dirty="0"/>
                        <a:t> et al.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dirty="0"/>
                        <a:t>2017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dirty="0"/>
                        <a:t>CNN models successfully detected lung nodules with high accuracy.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8073679"/>
                  </a:ext>
                </a:extLst>
              </a:tr>
              <a:tr h="17099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dirty="0"/>
                        <a:t>2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 err="1"/>
                        <a:t>Xception</a:t>
                      </a:r>
                      <a:r>
                        <a:rPr lang="en-US" b="0" dirty="0"/>
                        <a:t>: Deep Learning with </a:t>
                      </a:r>
                      <a:r>
                        <a:rPr lang="en-US" b="0" dirty="0" err="1"/>
                        <a:t>Depthwise</a:t>
                      </a:r>
                      <a:r>
                        <a:rPr lang="en-US" b="0" dirty="0"/>
                        <a:t> Separable Convolutions</a:t>
                      </a:r>
                    </a:p>
                    <a:p>
                      <a:pPr>
                        <a:buNone/>
                      </a:pPr>
                      <a:endParaRPr lang="en-US" sz="1800" b="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dirty="0"/>
                        <a:t>François </a:t>
                      </a:r>
                      <a:r>
                        <a:rPr lang="en-US" sz="1800" b="0" dirty="0" err="1"/>
                        <a:t>Cholleto</a:t>
                      </a:r>
                      <a:endParaRPr lang="en-US" sz="1800" b="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dirty="0"/>
                        <a:t>2017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dirty="0"/>
                        <a:t>Introduced </a:t>
                      </a:r>
                      <a:r>
                        <a:rPr lang="en-US" sz="1800" b="0" dirty="0" err="1"/>
                        <a:t>Xception</a:t>
                      </a:r>
                      <a:r>
                        <a:rPr lang="en-US" sz="1800" b="0" dirty="0"/>
                        <a:t> architecture with improved feature extraction performance.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1267609"/>
                  </a:ext>
                </a:extLst>
              </a:tr>
              <a:tr h="14399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dirty="0"/>
                        <a:t>3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/>
                        <a:t>Transfer Learning in Medical Image Analysis: A Survey</a:t>
                      </a:r>
                    </a:p>
                    <a:p>
                      <a:pPr>
                        <a:buNone/>
                      </a:pPr>
                      <a:endParaRPr lang="en-US" sz="1800" b="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dirty="0" err="1"/>
                        <a:t>Cheplygina</a:t>
                      </a:r>
                      <a:r>
                        <a:rPr lang="en-US" sz="1800" b="0" dirty="0"/>
                        <a:t> et al.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dirty="0"/>
                        <a:t>2019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dirty="0"/>
                        <a:t>Demonstrated effectiveness of transfer learning in medical imaging tasks.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5071591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9042467"/>
              </p:ext>
            </p:extLst>
          </p:nvPr>
        </p:nvGraphicFramePr>
        <p:xfrm>
          <a:off x="838200" y="4067334"/>
          <a:ext cx="10515600" cy="57912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3903479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sz="32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1612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8995672"/>
              </p:ext>
            </p:extLst>
          </p:nvPr>
        </p:nvGraphicFramePr>
        <p:xfrm>
          <a:off x="3151164" y="2029265"/>
          <a:ext cx="1758932" cy="365760"/>
        </p:xfrm>
        <a:graphic>
          <a:graphicData uri="http://schemas.openxmlformats.org/drawingml/2006/table">
            <a:tbl>
              <a:tblPr/>
              <a:tblGrid>
                <a:gridCol w="1758932">
                  <a:extLst>
                    <a:ext uri="{9D8B030D-6E8A-4147-A177-3AD203B41FA5}">
                      <a16:colId xmlns:a16="http://schemas.microsoft.com/office/drawing/2014/main" val="10297528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2054850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2690976"/>
              </p:ext>
            </p:extLst>
          </p:nvPr>
        </p:nvGraphicFramePr>
        <p:xfrm>
          <a:off x="3094191" y="4953910"/>
          <a:ext cx="1872877" cy="365760"/>
        </p:xfrm>
        <a:graphic>
          <a:graphicData uri="http://schemas.openxmlformats.org/drawingml/2006/table">
            <a:tbl>
              <a:tblPr/>
              <a:tblGrid>
                <a:gridCol w="1872877">
                  <a:extLst>
                    <a:ext uri="{9D8B030D-6E8A-4147-A177-3AD203B41FA5}">
                      <a16:colId xmlns:a16="http://schemas.microsoft.com/office/drawing/2014/main" val="25302561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29128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26853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B278F-0831-0485-0151-AF84BE742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70" y="569841"/>
            <a:ext cx="10515600" cy="1325563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accent2"/>
                </a:solidFill>
              </a:rPr>
              <a:t>PROBLEM STATEMENT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432062" y="2265371"/>
            <a:ext cx="6401689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Manual CT scan analysis is time-consuming.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Diagnostic accuracy may vary among radiologists.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Early-stage lung cancer is difficult to identify.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Large amounts of imaging data increase workload.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Need for an automated and reliable detection system. </a:t>
            </a:r>
          </a:p>
        </p:txBody>
      </p:sp>
    </p:spTree>
    <p:extLst>
      <p:ext uri="{BB962C8B-B14F-4D97-AF65-F5344CB8AC3E}">
        <p14:creationId xmlns:p14="http://schemas.microsoft.com/office/powerpoint/2010/main" val="20434144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30CFE-1DD7-1AD2-BD12-6F9EC47AF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chemeClr val="accent2"/>
                </a:solidFill>
              </a:rPr>
              <a:t>PROPOSED SOLUTION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682388" y="2698598"/>
            <a:ext cx="1067141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 CNN and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Xception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Transfer Learning.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Perform image preprocessing and augmentation.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Extract deep features from CT scans.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Classify scans into four categories: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en-US" altLang="en-US" sz="1800" b="1" dirty="0"/>
              <a:t>Normal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Benign (non-cancerous)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en-US" altLang="en-US" sz="1800" b="1" dirty="0"/>
              <a:t>Malignant (cancerous)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Provide accurate diagnostic support. </a:t>
            </a:r>
          </a:p>
        </p:txBody>
      </p:sp>
    </p:spTree>
    <p:extLst>
      <p:ext uri="{BB962C8B-B14F-4D97-AF65-F5344CB8AC3E}">
        <p14:creationId xmlns:p14="http://schemas.microsoft.com/office/powerpoint/2010/main" val="8414120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405EB-44CB-B904-8276-A1207385D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chemeClr val="accent2"/>
                </a:solidFill>
              </a:rPr>
              <a:t>OBJECTIVES</a:t>
            </a:r>
          </a:p>
        </p:txBody>
      </p:sp>
      <p:sp>
        <p:nvSpPr>
          <p:cNvPr id="8" name="Rectangle 4"/>
          <p:cNvSpPr>
            <a:spLocks noGrp="1" noChangeArrowheads="1"/>
          </p:cNvSpPr>
          <p:nvPr>
            <p:ph idx="1"/>
          </p:nvPr>
        </p:nvSpPr>
        <p:spPr bwMode="auto">
          <a:xfrm>
            <a:off x="838200" y="2316126"/>
            <a:ext cx="6303264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Develop an automated lung cancer detection system.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Improve diagnostic accuracy using transfer learning.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Reduce radiologist workload.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Classify CT scans into four classes.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Assist in early disease diagnosis. </a:t>
            </a:r>
          </a:p>
        </p:txBody>
      </p:sp>
    </p:spTree>
    <p:extLst>
      <p:ext uri="{BB962C8B-B14F-4D97-AF65-F5344CB8AC3E}">
        <p14:creationId xmlns:p14="http://schemas.microsoft.com/office/powerpoint/2010/main" val="38829609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94751-8B3E-8908-48D8-F91A95C5C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chemeClr val="accent2"/>
                </a:solidFill>
              </a:rPr>
              <a:t>FRAMEWORK (METHODOLOGY)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701722" y="1485970"/>
            <a:ext cx="10515600" cy="4887533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2900" dirty="0"/>
          </a:p>
          <a:p>
            <a:r>
              <a:rPr lang="en-US" sz="2900" dirty="0"/>
              <a:t> Dataset Collection – Gather CT scan images.</a:t>
            </a:r>
          </a:p>
          <a:p>
            <a:r>
              <a:rPr lang="en-US" sz="2900" dirty="0"/>
              <a:t> Preprocessing – Resize and normalize images.</a:t>
            </a:r>
          </a:p>
          <a:p>
            <a:r>
              <a:rPr lang="en-US" sz="2900" dirty="0"/>
              <a:t> Data Augmentation – Rotate, flip, and zoom images.</a:t>
            </a:r>
          </a:p>
          <a:p>
            <a:r>
              <a:rPr lang="en-US" sz="2900" dirty="0"/>
              <a:t> </a:t>
            </a:r>
            <a:r>
              <a:rPr lang="en-US" sz="2900" dirty="0" err="1"/>
              <a:t>Xception</a:t>
            </a:r>
            <a:r>
              <a:rPr lang="en-US" sz="2900" dirty="0"/>
              <a:t> Model – Extract important features.</a:t>
            </a:r>
          </a:p>
          <a:p>
            <a:r>
              <a:rPr lang="en-US" sz="2900" dirty="0"/>
              <a:t>CNN Classifier – Classify lung cancer types.</a:t>
            </a:r>
          </a:p>
          <a:p>
            <a:r>
              <a:rPr lang="en-US" sz="2900" dirty="0"/>
              <a:t> Training &amp; Validation – Train and evaluate model.</a:t>
            </a:r>
          </a:p>
          <a:p>
            <a:r>
              <a:rPr lang="en-US" sz="2900" dirty="0"/>
              <a:t> Prediction – Generate final classification result.</a:t>
            </a:r>
          </a:p>
        </p:txBody>
      </p:sp>
    </p:spTree>
    <p:extLst>
      <p:ext uri="{BB962C8B-B14F-4D97-AF65-F5344CB8AC3E}">
        <p14:creationId xmlns:p14="http://schemas.microsoft.com/office/powerpoint/2010/main" val="9739318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EF7A1-C855-8C3F-0EB7-156B7EBF9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>
                <a:solidFill>
                  <a:schemeClr val="accent2"/>
                </a:solidFill>
              </a:rPr>
              <a:t>MODULES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Dataset Collection</a:t>
            </a:r>
          </a:p>
          <a:p>
            <a:r>
              <a:rPr lang="en-US" sz="2000" dirty="0"/>
              <a:t> Image Preprocessing</a:t>
            </a:r>
          </a:p>
          <a:p>
            <a:r>
              <a:rPr lang="en-US" sz="2000" dirty="0"/>
              <a:t> Data Augmentation</a:t>
            </a:r>
          </a:p>
          <a:p>
            <a:r>
              <a:rPr lang="en-US" sz="2000" dirty="0"/>
              <a:t> </a:t>
            </a:r>
            <a:r>
              <a:rPr lang="en-US" sz="2000" dirty="0" err="1"/>
              <a:t>Xception</a:t>
            </a:r>
            <a:r>
              <a:rPr lang="en-US" sz="2000" dirty="0"/>
              <a:t> Feature Extraction</a:t>
            </a:r>
          </a:p>
          <a:p>
            <a:r>
              <a:rPr lang="en-US" sz="2000" dirty="0"/>
              <a:t> CNN Classification</a:t>
            </a:r>
          </a:p>
          <a:p>
            <a:r>
              <a:rPr lang="en-US" sz="2000" dirty="0"/>
              <a:t> Model Training</a:t>
            </a:r>
          </a:p>
          <a:p>
            <a:r>
              <a:rPr lang="en-US" sz="2000" dirty="0"/>
              <a:t>Prediction Output</a:t>
            </a:r>
          </a:p>
        </p:txBody>
      </p:sp>
    </p:spTree>
    <p:extLst>
      <p:ext uri="{BB962C8B-B14F-4D97-AF65-F5344CB8AC3E}">
        <p14:creationId xmlns:p14="http://schemas.microsoft.com/office/powerpoint/2010/main" val="12837721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89ACD-AA45-978E-D823-34C74B942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chemeClr val="accent2"/>
                </a:solidFill>
              </a:rPr>
              <a:t>TECH STACK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701722" y="1690688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3200" dirty="0"/>
          </a:p>
          <a:p>
            <a:r>
              <a:rPr lang="en-US" sz="3200" dirty="0"/>
              <a:t> Language: Python</a:t>
            </a:r>
          </a:p>
          <a:p>
            <a:r>
              <a:rPr lang="en-US" sz="3200" dirty="0"/>
              <a:t> Frameworks: </a:t>
            </a:r>
            <a:r>
              <a:rPr lang="en-US" sz="3200" dirty="0" err="1"/>
              <a:t>TensorFlow</a:t>
            </a:r>
            <a:r>
              <a:rPr lang="en-US" sz="3200" dirty="0"/>
              <a:t>, </a:t>
            </a:r>
            <a:r>
              <a:rPr lang="en-US" sz="3200" dirty="0" err="1"/>
              <a:t>Keras</a:t>
            </a:r>
            <a:endParaRPr lang="en-US" sz="3200" dirty="0"/>
          </a:p>
          <a:p>
            <a:r>
              <a:rPr lang="en-US" sz="3200" dirty="0"/>
              <a:t> Model: CNN + </a:t>
            </a:r>
            <a:r>
              <a:rPr lang="en-US" sz="3200" dirty="0" err="1"/>
              <a:t>Xception</a:t>
            </a:r>
            <a:endParaRPr lang="en-US" sz="3200" dirty="0"/>
          </a:p>
          <a:p>
            <a:r>
              <a:rPr lang="en-US" sz="3200" dirty="0"/>
              <a:t> Libraries: </a:t>
            </a:r>
            <a:r>
              <a:rPr lang="en-US" sz="3200" dirty="0" err="1"/>
              <a:t>NumPy</a:t>
            </a:r>
            <a:r>
              <a:rPr lang="en-US" sz="3200" dirty="0"/>
              <a:t>, </a:t>
            </a:r>
            <a:r>
              <a:rPr lang="en-US" sz="3200" dirty="0" err="1"/>
              <a:t>OpenCV</a:t>
            </a:r>
            <a:r>
              <a:rPr lang="en-US" sz="3200" dirty="0"/>
              <a:t>, </a:t>
            </a:r>
            <a:r>
              <a:rPr lang="en-US" sz="3200" dirty="0" err="1"/>
              <a:t>Matplotlib</a:t>
            </a:r>
            <a:r>
              <a:rPr lang="en-US" sz="3200" dirty="0"/>
              <a:t>, </a:t>
            </a:r>
            <a:r>
              <a:rPr lang="en-US" sz="3200" dirty="0" err="1"/>
              <a:t>Scikit</a:t>
            </a:r>
            <a:r>
              <a:rPr lang="en-US" sz="3200" dirty="0"/>
              <a:t>-learn</a:t>
            </a:r>
          </a:p>
          <a:p>
            <a:r>
              <a:rPr lang="en-US" sz="3200" dirty="0"/>
              <a:t> Tools: Google </a:t>
            </a:r>
            <a:r>
              <a:rPr lang="en-US" sz="3200" dirty="0" err="1"/>
              <a:t>Colab</a:t>
            </a:r>
            <a:r>
              <a:rPr lang="en-US" sz="3200" dirty="0"/>
              <a:t>, </a:t>
            </a:r>
            <a:r>
              <a:rPr lang="en-US" sz="3200" dirty="0" err="1"/>
              <a:t>Jupyter</a:t>
            </a:r>
            <a:r>
              <a:rPr lang="en-US" sz="3200" dirty="0"/>
              <a:t> Notebook, VS Code</a:t>
            </a:r>
          </a:p>
        </p:txBody>
      </p:sp>
    </p:spTree>
    <p:extLst>
      <p:ext uri="{BB962C8B-B14F-4D97-AF65-F5344CB8AC3E}">
        <p14:creationId xmlns:p14="http://schemas.microsoft.com/office/powerpoint/2010/main" val="36599973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35878-DBF7-AE4E-2C69-B91D395A8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8395"/>
            <a:ext cx="10515600" cy="1325563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accent2"/>
                </a:solidFill>
              </a:rPr>
              <a:t>RESULTS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742665" y="1446662"/>
            <a:ext cx="10515600" cy="4703005"/>
          </a:xfrm>
        </p:spPr>
        <p:txBody>
          <a:bodyPr>
            <a:noAutofit/>
          </a:bodyPr>
          <a:lstStyle/>
          <a:p>
            <a:r>
              <a:rPr lang="en-US" sz="2000" dirty="0"/>
              <a:t>Successful classification of lung CT scans.</a:t>
            </a:r>
          </a:p>
          <a:p>
            <a:r>
              <a:rPr lang="en-US" sz="2000" dirty="0"/>
              <a:t>Improved accuracy using transfer learning.</a:t>
            </a:r>
          </a:p>
          <a:p>
            <a:r>
              <a:rPr lang="en-US" sz="2000" dirty="0"/>
              <a:t>Better feature extraction through </a:t>
            </a:r>
            <a:r>
              <a:rPr lang="en-US" sz="2000" dirty="0" err="1"/>
              <a:t>Xception</a:t>
            </a:r>
            <a:r>
              <a:rPr lang="en-US" sz="2000" dirty="0"/>
              <a:t>.</a:t>
            </a:r>
          </a:p>
          <a:p>
            <a:r>
              <a:rPr lang="en-US" sz="2000" dirty="0"/>
              <a:t>Reduced chances of misclassification.</a:t>
            </a:r>
          </a:p>
          <a:p>
            <a:r>
              <a:rPr lang="en-US" sz="2000" dirty="0"/>
              <a:t>Supports intelligent medical diagnosis.</a:t>
            </a:r>
          </a:p>
          <a:p>
            <a:r>
              <a:rPr lang="en-US" sz="2000" b="1" dirty="0"/>
              <a:t>Includes</a:t>
            </a:r>
          </a:p>
          <a:p>
            <a:pPr marL="457200" indent="-457200">
              <a:buAutoNum type="arabicPeriod"/>
            </a:pPr>
            <a:r>
              <a:rPr lang="en-US" sz="2000" dirty="0"/>
              <a:t>Accuracy graph</a:t>
            </a:r>
          </a:p>
          <a:p>
            <a:pPr marL="457200" indent="-457200">
              <a:buAutoNum type="arabicPeriod"/>
            </a:pPr>
            <a:r>
              <a:rPr lang="en-US" sz="2000" dirty="0"/>
              <a:t>Loss graph</a:t>
            </a:r>
          </a:p>
          <a:p>
            <a:pPr marL="457200" indent="-457200">
              <a:buAutoNum type="arabicPeriod"/>
            </a:pPr>
            <a:r>
              <a:rPr lang="en-US" sz="2000" dirty="0"/>
              <a:t>Confusion matrix</a:t>
            </a:r>
          </a:p>
          <a:p>
            <a:pPr marL="457200" indent="-457200">
              <a:buAutoNum type="arabicPeriod"/>
            </a:pPr>
            <a:r>
              <a:rPr lang="en-US" sz="2000" dirty="0"/>
              <a:t>Sample prediction images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2526582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1BE3FA7-0D70-4431-814F-D8C40576E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702" y="312521"/>
            <a:ext cx="5338358" cy="305847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6334" y="312521"/>
            <a:ext cx="5347071" cy="305847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6794" y="3532993"/>
            <a:ext cx="5418159" cy="3163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4075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62ABC4B-37D8-4218-BDD8-6DF6A00C0C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844" y="1420183"/>
            <a:ext cx="5019908" cy="343760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5802" y="3753134"/>
            <a:ext cx="5418159" cy="2924033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5802" y="223610"/>
            <a:ext cx="5418159" cy="3229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7358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46914" y="791570"/>
            <a:ext cx="59777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accent2"/>
                </a:solidFill>
                <a:latin typeface="+mj-lt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1003" y="1992573"/>
            <a:ext cx="803853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CNN and </a:t>
            </a:r>
            <a:r>
              <a:rPr lang="en-US" sz="2000" dirty="0" err="1"/>
              <a:t>Xception</a:t>
            </a:r>
            <a:r>
              <a:rPr lang="en-US" sz="2000" dirty="0"/>
              <a:t> provide effective lung cancer detection.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Transfer learning improves model performance.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AI can assist radiologists in diagnosis.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Early detection improves patient survival.</a:t>
            </a:r>
            <a:br>
              <a:rPr lang="en-US" sz="2000" dirty="0"/>
            </a:br>
            <a:r>
              <a:rPr lang="en-US" sz="2000" dirty="0"/>
              <a:t>Demonstrates the potential of AI in healthcare.</a:t>
            </a:r>
          </a:p>
        </p:txBody>
      </p:sp>
    </p:spTree>
    <p:extLst>
      <p:ext uri="{BB962C8B-B14F-4D97-AF65-F5344CB8AC3E}">
        <p14:creationId xmlns:p14="http://schemas.microsoft.com/office/powerpoint/2010/main" val="22715203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71A40-355F-55AC-9C09-8373C24FB7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8346" y="2090566"/>
            <a:ext cx="9098507" cy="1610435"/>
          </a:xfrm>
        </p:spPr>
        <p:txBody>
          <a:bodyPr>
            <a:noAutofit/>
          </a:bodyPr>
          <a:lstStyle/>
          <a:p>
            <a:r>
              <a:rPr lang="en-US" sz="2200" b="1" dirty="0">
                <a:solidFill>
                  <a:schemeClr val="accent2"/>
                </a:solidFill>
                <a:latin typeface="+mn-lt"/>
              </a:rPr>
              <a:t>"Artificial Intelligence is transforming medical diagnosis by enabling faster, more accurate, and intelligent healthcare solutions."</a:t>
            </a:r>
          </a:p>
        </p:txBody>
      </p:sp>
    </p:spTree>
    <p:extLst>
      <p:ext uri="{BB962C8B-B14F-4D97-AF65-F5344CB8AC3E}">
        <p14:creationId xmlns:p14="http://schemas.microsoft.com/office/powerpoint/2010/main" val="4141892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226</TotalTime>
  <Words>596</Words>
  <Application>Microsoft Office PowerPoint</Application>
  <PresentationFormat>Widescreen</PresentationFormat>
  <Paragraphs>107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LUNG CANCER DETECTION - USING CNN AND XCEPTION TRANSFER LEARNING</vt:lpstr>
      <vt:lpstr>ABSTRACT</vt:lpstr>
      <vt:lpstr>CONTENTS</vt:lpstr>
      <vt:lpstr>INTRODUCTION</vt:lpstr>
      <vt:lpstr>LITERATURE SURVEY</vt:lpstr>
      <vt:lpstr>PROBLEM STATEMENT</vt:lpstr>
      <vt:lpstr>PROPOSED SOLUTION</vt:lpstr>
      <vt:lpstr>OBJECTIVES</vt:lpstr>
      <vt:lpstr>FRAMEWORK (METHODOLOGY)</vt:lpstr>
      <vt:lpstr>MODULES</vt:lpstr>
      <vt:lpstr>TECH STACK</vt:lpstr>
      <vt:lpstr>RESULTS</vt:lpstr>
      <vt:lpstr>PowerPoint Presentation</vt:lpstr>
      <vt:lpstr>PowerPoint Presentation</vt:lpstr>
      <vt:lpstr>PowerPoint Presentation</vt:lpstr>
      <vt:lpstr>"Artificial Intelligence is transforming medical diagnosis by enabling faster, more accurate, and intelligent healthcare solutions."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PLASTIC DETECTION USING YOLO</dc:title>
  <dc:creator>khan</dc:creator>
  <cp:lastModifiedBy>Jayasimha Reddy V</cp:lastModifiedBy>
  <cp:revision>187</cp:revision>
  <dcterms:created xsi:type="dcterms:W3CDTF">2026-06-14T12:39:51Z</dcterms:created>
  <dcterms:modified xsi:type="dcterms:W3CDTF">2026-06-22T18:55:40Z</dcterms:modified>
</cp:coreProperties>
</file>